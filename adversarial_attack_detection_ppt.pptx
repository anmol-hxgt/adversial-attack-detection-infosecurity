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B0C4D8"/>
                </a:solidFill>
                <a:latin typeface="Arial"/>
              </a:rPr>
              <a:t>Model Accuracy on MNIST Adversarial Examples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Squeezing (%)</c:v>
                </c:pt>
              </c:strCache>
            </c:strRef>
          </c:tx>
          <c:spPr>
            <a:solidFill>
              <a:srgbClr val="FF444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FGSM</c:v>
                </c:pt>
                <c:pt idx="1">
                  <c:v>BIM</c:v>
                </c:pt>
                <c:pt idx="2">
                  <c:v>CW∞</c:v>
                </c:pt>
                <c:pt idx="3">
                  <c:v>CW₂</c:v>
                </c:pt>
                <c:pt idx="4">
                  <c:v>CW₀</c:v>
                </c:pt>
                <c:pt idx="5">
                  <c:v>JSMA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</c:v>
                </c:pt>
                <c:pt idx="1">
                  <c:v>9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A5-46D1-820C-29EEC3E26D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1-bit Squeezing (%)</c:v>
                </c:pt>
              </c:strCache>
            </c:strRef>
          </c:tx>
          <c:spPr>
            <a:solidFill>
              <a:srgbClr val="00C6F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FGSM</c:v>
                </c:pt>
                <c:pt idx="1">
                  <c:v>BIM</c:v>
                </c:pt>
                <c:pt idx="2">
                  <c:v>CW∞</c:v>
                </c:pt>
                <c:pt idx="3">
                  <c:v>CW₂</c:v>
                </c:pt>
                <c:pt idx="4">
                  <c:v>CW₀</c:v>
                </c:pt>
                <c:pt idx="5">
                  <c:v>JSMA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92</c:v>
                </c:pt>
                <c:pt idx="1">
                  <c:v>87</c:v>
                </c:pt>
                <c:pt idx="2">
                  <c:v>100</c:v>
                </c:pt>
                <c:pt idx="3">
                  <c:v>83</c:v>
                </c:pt>
                <c:pt idx="4">
                  <c:v>0</c:v>
                </c:pt>
                <c:pt idx="5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A5-46D1-820C-29EEC3E26D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0A15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0C4D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0C4D8"/>
                </a:solidFill>
                <a:latin typeface="Arial"/>
              </a:rPr>
              <a:t>MNIST Detection Breakdown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67D-478C-AA67-2876E99FB786}"/>
              </c:ext>
            </c:extLst>
          </c:dPt>
          <c:dPt>
            <c:idx val="1"/>
            <c:bubble3D val="0"/>
            <c:spPr>
              <a:solidFill>
                <a:srgbClr val="F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67D-478C-AA67-2876E99FB786}"/>
              </c:ext>
            </c:extLst>
          </c:dPt>
          <c:dPt>
            <c:idx val="2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67D-478C-AA67-2876E99FB78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67D-478C-AA67-2876E99FB78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67D-478C-AA67-2876E99FB78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67D-478C-AA67-2876E99FB78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Detected (SAEs)</c:v>
                </c:pt>
                <c:pt idx="1">
                  <c:v>Missed</c:v>
                </c:pt>
                <c:pt idx="2">
                  <c:v>False Positives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98.15</c:v>
                </c:pt>
                <c:pt idx="1">
                  <c:v>1.85</c:v>
                </c:pt>
                <c:pt idx="2">
                  <c:v>3.98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67D-478C-AA67-2876E99FB7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0A15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0C4D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0C4D8"/>
                </a:solidFill>
                <a:latin typeface="Arial"/>
              </a:rPr>
              <a:t>Detection Rate (SAEs) — FPR matched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Squeezing (%)</c:v>
                </c:pt>
              </c:strCache>
            </c:strRef>
          </c:tx>
          <c:spPr>
            <a:solidFill>
              <a:srgbClr val="00C6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MNIST</c:v>
                </c:pt>
                <c:pt idx="1">
                  <c:v>CIFAR-10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78.75</c:v>
                </c:pt>
                <c:pt idx="1">
                  <c:v>61.88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9C-46A8-8E2A-888D9FC7E6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MagNet (%)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MNIST</c:v>
                </c:pt>
                <c:pt idx="1">
                  <c:v>CIFAR-10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95.61</c:v>
                </c:pt>
                <c:pt idx="1">
                  <c:v>50.46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9C-46A8-8E2A-888D9FC7E6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0A15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527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Adversarial Examples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Deep Neural Networks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Feature Squeezing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2880360"/>
            <a:ext cx="6400800" cy="0"/>
          </a:xfrm>
          <a:prstGeom prst="line">
            <a:avLst/>
          </a:prstGeom>
          <a:noFill/>
          <a:ln w="19050">
            <a:solidFill>
              <a:srgbClr val="00C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Weilin Xu, David Evans, Yanjun Qi  ·  University of Virginia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NDSS 2020  ·  San Diego, 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4069080"/>
            <a:ext cx="2194560" cy="822960"/>
          </a:xfrm>
          <a:prstGeom prst="rect">
            <a:avLst/>
          </a:prstGeom>
          <a:solidFill>
            <a:srgbClr val="1B2A4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0965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44531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(MNIST)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0" y="4069080"/>
            <a:ext cx="2194560" cy="822960"/>
          </a:xfrm>
          <a:prstGeom prst="rect">
            <a:avLst/>
          </a:prstGeom>
          <a:solidFill>
            <a:srgbClr val="1B2A4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40965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44531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(ImageNet)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4069080"/>
            <a:ext cx="2194560" cy="822960"/>
          </a:xfrm>
          <a:prstGeom prst="rect">
            <a:avLst/>
          </a:prstGeom>
          <a:solidFill>
            <a:srgbClr val="1B2A4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0965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44531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Methods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Adversarial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1B2A4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They?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 crafted inputs designed to fool DNNs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Imperceptible to human eyes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transfer across models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optimization (FGSM, BIM, CW, JSMA)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or untargeted attacks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931920" cy="3474720"/>
          </a:xfrm>
          <a:prstGeom prst="rect">
            <a:avLst/>
          </a:prstGeom>
          <a:solidFill>
            <a:srgbClr val="1B2A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Security-critical applications at risk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classification bypass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defeats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manipulation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misdiagnosis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C2E45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Find x' such that  g(x') ≠ g(x)  and  Δ(x, x') ≤ ε   (imperceptible perturbation)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Defenses &amp; Their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737360"/>
          </a:xfrm>
          <a:prstGeom prst="rect">
            <a:avLst/>
          </a:prstGeom>
          <a:solidFill>
            <a:srgbClr val="1B2A40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Adversarial Training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Retrains model with adversarial examples.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expensive, non-adaptive, must know attack type.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914400"/>
            <a:ext cx="4114800" cy="1737360"/>
          </a:xfrm>
          <a:prstGeom prst="rect">
            <a:avLst/>
          </a:prstGeom>
          <a:solidFill>
            <a:srgbClr val="1B2A40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Gradient Masking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near-zero gradients.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model capacity, still vulnerable to transfer attacks.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114800" cy="1737360"/>
          </a:xfrm>
          <a:prstGeom prst="rect">
            <a:avLst/>
          </a:prstGeom>
          <a:solidFill>
            <a:srgbClr val="1B2A40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Defensive Distillation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softmax training.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against JSMA variants and black-box attacks.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2880360"/>
            <a:ext cx="4114800" cy="1737360"/>
          </a:xfrm>
          <a:prstGeom prst="rect">
            <a:avLst/>
          </a:prstGeom>
          <a:solidFill>
            <a:srgbClr val="1B2A40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Feature Squeezing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3832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predictions on original vs squeezed.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Inexpensive, complementary, no model changes needed.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Squeezing: Core Idea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1C3A55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3268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Feature input spaces are unnecessarily large — reduce them to eliminate adversarial opportunity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1280160" cy="640080"/>
          </a:xfrm>
          <a:prstGeom prst="rect">
            <a:avLst/>
          </a:prstGeom>
          <a:solidFill>
            <a:srgbClr val="1B2A4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916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2011680"/>
            <a:ext cx="457200" cy="0"/>
          </a:xfrm>
          <a:prstGeom prst="line">
            <a:avLst/>
          </a:prstGeom>
          <a:noFill/>
          <a:ln w="25400">
            <a:solidFill>
              <a:srgbClr val="00C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1417320"/>
            <a:ext cx="1371600" cy="548640"/>
          </a:xfrm>
          <a:prstGeom prst="rect">
            <a:avLst/>
          </a:prstGeom>
          <a:solidFill>
            <a:srgbClr val="1B2A40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411480" cy="0"/>
          </a:xfrm>
          <a:prstGeom prst="line">
            <a:avLst/>
          </a:prstGeom>
          <a:noFill/>
          <a:ln w="19050">
            <a:solidFill>
              <a:srgbClr val="B0C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1417320"/>
            <a:ext cx="1188720" cy="548640"/>
          </a:xfrm>
          <a:prstGeom prst="rect">
            <a:avLst/>
          </a:prstGeom>
          <a:solidFill>
            <a:srgbClr val="1B2A40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417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57400" y="2286000"/>
            <a:ext cx="1371600" cy="548640"/>
          </a:xfrm>
          <a:prstGeom prst="rect">
            <a:avLst/>
          </a:prstGeom>
          <a:solidFill>
            <a:srgbClr val="1C3A55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DNN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2560320"/>
            <a:ext cx="411480" cy="0"/>
          </a:xfrm>
          <a:prstGeom prst="line">
            <a:avLst/>
          </a:prstGeom>
          <a:noFill/>
          <a:ln w="19050">
            <a:solidFill>
              <a:srgbClr val="00C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2286000"/>
            <a:ext cx="1188720" cy="548640"/>
          </a:xfrm>
          <a:prstGeom prst="rect">
            <a:avLst/>
          </a:prstGeom>
          <a:solidFill>
            <a:srgbClr val="1C3A55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286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(squeezed)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49240" y="1691640"/>
            <a:ext cx="1371600" cy="1188720"/>
          </a:xfrm>
          <a:prstGeom prst="rect">
            <a:avLst/>
          </a:prstGeom>
          <a:solidFill>
            <a:srgbClr val="1B2A4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6916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Distance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max(d₁,d₂) &gt; T?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0" y="1554480"/>
            <a:ext cx="1737360" cy="502920"/>
          </a:xfrm>
          <a:prstGeom prst="rect">
            <a:avLst/>
          </a:prstGeom>
          <a:solidFill>
            <a:srgbClr val="3A000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5544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Adversarial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0" y="2377440"/>
            <a:ext cx="1737360" cy="502920"/>
          </a:xfrm>
          <a:prstGeom prst="rect">
            <a:avLst/>
          </a:prstGeom>
          <a:solidFill>
            <a:srgbClr val="003A1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2377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Legitimate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8412480" cy="411480"/>
          </a:xfrm>
          <a:prstGeom prst="rect">
            <a:avLst/>
          </a:prstGeom>
          <a:solidFill>
            <a:srgbClr val="1C2E45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score(x, x_sq) = ‖g(x) − g(x_sq)‖₁      |      score_joint = max(score₁, score₂, ...)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Squeezing Methods: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3977640" cy="731520"/>
          </a:xfrm>
          <a:prstGeom prst="rect">
            <a:avLst/>
          </a:prstGeom>
          <a:solidFill>
            <a:srgbClr val="1B2A4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06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Color Bit Depth Reduction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4480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pixel precision (8-bit → 1–5-bit)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4160520"/>
            <a:ext cx="3977640" cy="731520"/>
          </a:xfrm>
          <a:prstGeom prst="rect">
            <a:avLst/>
          </a:prstGeom>
          <a:solidFill>
            <a:srgbClr val="1B2A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206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Spatial Smoothing (Median / Non-local)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480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adjacent pixels using sliding window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FGSM Attack &amp;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663440" cy="39319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Implementation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CNN (98.82% accuracy)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CNN().to(device)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optim.Adam(model.parameters())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FGSM Attack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fgsm_attack(image, epsilon, grad):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 = grad.sign()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torch.clamp(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 + epsilon * sign, 0, 1)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Squeezing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feature_squeeze(image, bit_depth=2):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levels = 2 ** bit_depth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torch.floor(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 * levels) / levels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Detection Logic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adv_pred != squeezed_pred: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print("Adversarial Attack Detected!")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0" y="868680"/>
            <a:ext cx="3566160" cy="1188720"/>
          </a:xfrm>
          <a:prstGeom prst="rect">
            <a:avLst/>
          </a:prstGeom>
          <a:solidFill>
            <a:srgbClr val="1B2A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49240" y="1188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98.82% on MNIST test 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 · Adam optimizer · CrossEntropy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2194560"/>
            <a:ext cx="3566160" cy="1188720"/>
          </a:xfrm>
          <a:prstGeom prst="rect">
            <a:avLst/>
          </a:prstGeom>
          <a:solidFill>
            <a:srgbClr val="1B2A4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FGSM Attack Result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2514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0.15 → Original: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Adversarial: 9 (fooled!)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3520440"/>
            <a:ext cx="3566160" cy="1280160"/>
          </a:xfrm>
          <a:prstGeom prst="rect">
            <a:avLst/>
          </a:prstGeom>
          <a:solidFill>
            <a:srgbClr val="1B2A4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Squeezing 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3840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squeezing (2-bit):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restored to: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Attack Detected!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Results: Feature Squeezing Effectiveness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22960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22960"/>
            <a:ext cx="2971800" cy="4023360"/>
          </a:xfrm>
          <a:prstGeom prst="rect">
            <a:avLst/>
          </a:prstGeom>
          <a:solidFill>
            <a:srgbClr val="1B2A4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8961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89320" y="1280160"/>
            <a:ext cx="2697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filter restores accuracy from 0% → 100% for CW∞ attacks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filter: minimal impact on legitimate inputs (99.43% → 99.33%)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smoothing best for L₀-type attacks (JSMA, CW₀)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squeezers are complementary — combine for best results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squeezing outperforms adversarial training on FGSM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Results: Best Joint Detectors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3172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43400" y="960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06440" y="960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69480" y="960120"/>
            <a:ext cx="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8412480" cy="685800"/>
          </a:xfrm>
          <a:prstGeom prst="rect">
            <a:avLst/>
          </a:prstGeom>
          <a:solidFill>
            <a:srgbClr val="1B2A4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819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1581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Depth + 2×2 Median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3400" y="15819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5819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3.98%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9480" y="15819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8412480" cy="685800"/>
          </a:xfrm>
          <a:prstGeom prst="rect">
            <a:avLst/>
          </a:prstGeom>
          <a:solidFill>
            <a:srgbClr val="0F1D2E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134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23134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5-bit + 2×2 Median + Non-local (13-3-2)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2313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84.53%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06440" y="2313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4.93%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69480" y="2313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95.74%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8412480" cy="685800"/>
          </a:xfrm>
          <a:prstGeom prst="rect">
            <a:avLst/>
          </a:prstGeom>
          <a:solidFill>
            <a:srgbClr val="1B2A4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449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3044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5-bit + 2×2 Median + Non-local (11-3-4)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43400" y="30449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85.94%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30449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9480" y="304495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94.24%</a:t>
            </a:r>
            <a:endParaRPr lang="en-US" sz="11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65760" y="3246120"/>
          <a:ext cx="41148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4754880" y="3246120"/>
            <a:ext cx="4023360" cy="1645920"/>
          </a:xfrm>
          <a:prstGeom prst="rect">
            <a:avLst/>
          </a:prstGeom>
          <a:solidFill>
            <a:srgbClr val="1B2A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9204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92040" y="3639312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selected to keep FPR ≤ 5%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legitimate examples for training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adversarial examples needed at train 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to unseen attack types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Adaptation &amp; Countermeasures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2103120"/>
          </a:xfrm>
          <a:prstGeom prst="rect">
            <a:avLst/>
          </a:prstGeom>
          <a:solidFill>
            <a:srgbClr val="1B2A4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Adversary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defense and squeezing parameters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CW₂ with L₁ prediction distance penalty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drops to 68% (untargeted) vs 100% baseline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ε = 0.3: only 1% untargeted success, 0% targeted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14800" cy="2103120"/>
          </a:xfrm>
          <a:prstGeom prst="rect">
            <a:avLst/>
          </a:prstGeom>
          <a:solidFill>
            <a:srgbClr val="1B2A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298448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randomness in squeezing parameters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binary threshold: 0.5 ± rand(0.1)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drops further: 68% → 17% (untargeted)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randomness makes search infeasible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Attack Success Rate at ε = 0.3: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5204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Untargeted (no defense)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49040" y="3538728"/>
            <a:ext cx="3419856" cy="16459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14616" y="3520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749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Targeted-Next (no defense)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3767328"/>
            <a:ext cx="2212848" cy="16459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7608" y="3749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9776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Targeted-LL (no defense)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49040" y="3995928"/>
            <a:ext cx="1207008" cy="16459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39776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2062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Untargeted (with randomness)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49040" y="4224528"/>
            <a:ext cx="8549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9724" y="4206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Targeted-Next (with randomness)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49040" y="4453128"/>
            <a:ext cx="804672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4434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6634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Targeted-LL (with randomness)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49040" y="4681728"/>
            <a:ext cx="402336" cy="16459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97096" y="4663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MagNet &amp; Adversarial Training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4754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349240" y="914400"/>
            <a:ext cx="3429000" cy="3200400"/>
          </a:xfrm>
          <a:prstGeom prst="rect">
            <a:avLst/>
          </a:prstGeom>
          <a:solidFill>
            <a:srgbClr val="1B2A4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9875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Comparison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394960" y="1371600"/>
            <a:ext cx="3291840" cy="310896"/>
          </a:xfrm>
          <a:prstGeom prst="rect">
            <a:avLst/>
          </a:prstGeom>
          <a:solidFill>
            <a:srgbClr val="1C3A55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94960" y="14173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492240" y="14173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589520" y="14173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394960" y="1709928"/>
            <a:ext cx="3291840" cy="310896"/>
          </a:xfrm>
          <a:prstGeom prst="rect">
            <a:avLst/>
          </a:prstGeom>
          <a:solidFill>
            <a:srgbClr val="0F1D2E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17556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92240" y="17556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589520" y="17556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394960" y="2048256"/>
            <a:ext cx="3291840" cy="310896"/>
          </a:xfrm>
          <a:prstGeom prst="rect">
            <a:avLst/>
          </a:prstGeom>
          <a:solidFill>
            <a:srgbClr val="1B2A40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209397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change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92240" y="209397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589520" y="209397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394960" y="2386584"/>
            <a:ext cx="3291840" cy="310896"/>
          </a:xfrm>
          <a:prstGeom prst="rect">
            <a:avLst/>
          </a:prstGeom>
          <a:solidFill>
            <a:srgbClr val="0F1D2E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94960" y="243230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 safe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92240" y="243230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589520" y="243230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394960" y="2724912"/>
            <a:ext cx="3291840" cy="310896"/>
          </a:xfrm>
          <a:prstGeom prst="rect">
            <a:avLst/>
          </a:prstGeom>
          <a:solidFill>
            <a:srgbClr val="1B2A40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94960" y="27706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SAE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492240" y="27706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61.88%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589520" y="27706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50.46%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394960" y="3063240"/>
            <a:ext cx="3291840" cy="310896"/>
          </a:xfrm>
          <a:prstGeom prst="rect">
            <a:avLst/>
          </a:prstGeom>
          <a:solidFill>
            <a:srgbClr val="0F1D2E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94960" y="31089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SAE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492240" y="31089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78.75%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589520" y="31089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95.61%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394960" y="3401568"/>
            <a:ext cx="3291840" cy="310896"/>
          </a:xfrm>
          <a:prstGeom prst="rect">
            <a:avLst/>
          </a:prstGeom>
          <a:solidFill>
            <a:srgbClr val="1B2A40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94960" y="34472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(MNIST)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492240" y="34472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0.40%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589520" y="34472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0.40%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1C3A55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2920" y="42976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Feature Squeezing Advantage: MagNet is end-to-end differentiable → vulnerable to white-box attacks. Feature Squeezing uses hard-coded, non-differentiable transforms, making gradient-based adaptive attacks significantly harder.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Directions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3657600"/>
          </a:xfrm>
          <a:prstGeom prst="rect">
            <a:avLst/>
          </a:prstGeom>
          <a:solidFill>
            <a:srgbClr val="1B2A40"/>
          </a:solidFill>
          <a:ln w="19050">
            <a:solidFill>
              <a:srgbClr val="00C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88920" cy="3840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41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Proposed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Feature Squeezing: compare predictions on original vs squeezed inputs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210312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Two methods: color bit depth reduction + spatial smoothing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81635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Joint detection using max L₁ distance across multiple squeezers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3529584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Threshold trained using only legitimate examples (no adversarial needed)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788920" cy="3657600"/>
          </a:xfrm>
          <a:prstGeom prst="rect">
            <a:avLst/>
          </a:prstGeom>
          <a:solidFill>
            <a:srgbClr val="1B2A40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14400"/>
            <a:ext cx="2788920" cy="38404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941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38988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98.15% detection on MNIST with 1-bit + 2×2 median (FPR 3.98%)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210312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85.94% detection on ImageNet (FPR 8.33%)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281635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Outperforms adversarial training on FGSM at ε = 0.3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3529584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Complementary to other defenses, no model retraining required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788920" cy="3657600"/>
          </a:xfrm>
          <a:prstGeom prst="rect">
            <a:avLst/>
          </a:prstGeom>
          <a:solidFill>
            <a:srgbClr val="1B2A4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914400"/>
            <a:ext cx="278892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941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138988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Extend to non-image domains (audio, text, time-series)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36208" y="210312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Develop differentiable squeezers for stronger adaptive defense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36208" y="281635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Explore more squeezing methods (JPEG compression, eigenfaces)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3529584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Theoretical foundations for adversarial example vulnerability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C2E45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09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"Feature squeezing opens a new research direction in defending against adversarial examples."  — Xu, Evans &amp; Qi, NDSS 2018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1072</Words>
  <Application>Microsoft Office PowerPoint</Application>
  <PresentationFormat>On-screen Show (16:9)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Adversarial Examples using Feature Squeezing</dc:title>
  <dc:subject>PptxGenJS Presentation</dc:subject>
  <dc:creator>PptxGenJS</dc:creator>
  <cp:lastModifiedBy>Shweta</cp:lastModifiedBy>
  <cp:revision>2</cp:revision>
  <dcterms:created xsi:type="dcterms:W3CDTF">2026-05-09T10:57:45Z</dcterms:created>
  <dcterms:modified xsi:type="dcterms:W3CDTF">2026-05-10T02:04:27Z</dcterms:modified>
</cp:coreProperties>
</file>